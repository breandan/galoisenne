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6" r:id="rId2"/>
  </p:sldIdLst>
  <p:sldSz cx="512064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695"/>
    <p:restoredTop sz="94658"/>
  </p:normalViewPr>
  <p:slideViewPr>
    <p:cSldViewPr snapToGrid="0">
      <p:cViewPr>
        <p:scale>
          <a:sx n="37" d="100"/>
          <a:sy n="37" d="100"/>
        </p:scale>
        <p:origin x="552" y="1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9DEA7-5E0E-B342-9CE4-FCF21B1958E0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091488" y="1143000"/>
            <a:ext cx="230409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F33B8-B426-344D-BA94-21B17A69F2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001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8091488" y="1143000"/>
            <a:ext cx="23040976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F33B8-B426-344D-BA94-21B17A69F2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34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0" y="1122363"/>
            <a:ext cx="38404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3602038"/>
            <a:ext cx="38404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2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2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0" y="1709738"/>
            <a:ext cx="4416552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0" y="4589464"/>
            <a:ext cx="4416552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6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1825625"/>
            <a:ext cx="217627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1825625"/>
            <a:ext cx="217627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20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65126"/>
            <a:ext cx="441655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1681163"/>
            <a:ext cx="2166270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2505075"/>
            <a:ext cx="2166270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1681163"/>
            <a:ext cx="217693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2505075"/>
            <a:ext cx="2176939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62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32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38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457200"/>
            <a:ext cx="1651539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987426"/>
            <a:ext cx="2592324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2057400"/>
            <a:ext cx="1651539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80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457200"/>
            <a:ext cx="1651539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987426"/>
            <a:ext cx="2592324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2057400"/>
            <a:ext cx="1651539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69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702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365125"/>
            <a:ext cx="1104138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0" y="365125"/>
            <a:ext cx="324840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40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365126"/>
            <a:ext cx="441655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1825625"/>
            <a:ext cx="441655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6356351"/>
            <a:ext cx="11521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548D3-0433-7442-8CA6-6A33DD5FB3B5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6356351"/>
            <a:ext cx="17282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6356351"/>
            <a:ext cx="11521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CAB16-82FE-5F45-8DE1-90F84DF1A8C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2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A1A7A-C780-DBE1-94C8-F0F843B6A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181" y="376801"/>
            <a:ext cx="12396520" cy="437152"/>
          </a:xfrm>
        </p:spPr>
        <p:txBody>
          <a:bodyPr>
            <a:noAutofit/>
          </a:bodyPr>
          <a:lstStyle/>
          <a:p>
            <a:pPr algn="l"/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Syntax</a:t>
            </a:r>
            <a:r>
              <a:rPr lang="en-US" sz="45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                                           </a:t>
            </a:r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CNF grammar      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83688F-0DFD-AC15-58FF-938E354C9582}"/>
              </a:ext>
            </a:extLst>
          </p:cNvPr>
          <p:cNvSpPr txBox="1">
            <a:spLocks/>
          </p:cNvSpPr>
          <p:nvPr/>
        </p:nvSpPr>
        <p:spPr>
          <a:xfrm>
            <a:off x="47971" y="841333"/>
            <a:ext cx="5846756" cy="11669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S → </a:t>
            </a:r>
            <a:r>
              <a:rPr lang="en-US" sz="4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)</a:t>
            </a:r>
            <a:r>
              <a:rPr lang="en-US" sz="44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</a:t>
            </a:r>
            <a:r>
              <a:rPr lang="en-US" sz="48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| </a:t>
            </a:r>
            <a:r>
              <a:rPr lang="en-US" sz="4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sz="48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S </a:t>
            </a:r>
            <a:r>
              <a:rPr lang="en-US" sz="4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lang="en-US" sz="48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| S S</a:t>
            </a:r>
            <a:endParaRPr lang="en-US" sz="4800" u="sng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F193D2B-A3F8-F080-60C3-E7C604AEF318}"/>
              </a:ext>
            </a:extLst>
          </p:cNvPr>
          <p:cNvSpPr txBox="1">
            <a:spLocks/>
          </p:cNvSpPr>
          <p:nvPr/>
        </p:nvSpPr>
        <p:spPr>
          <a:xfrm>
            <a:off x="294521" y="3649195"/>
            <a:ext cx="11631049" cy="753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45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     </a:t>
            </a:r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Source</a:t>
            </a:r>
            <a:r>
              <a:rPr lang="en-US" sz="45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                              </a:t>
            </a:r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Edit automaton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B9927AA-C835-B148-3650-E0F392FE54A2}"/>
              </a:ext>
            </a:extLst>
          </p:cNvPr>
          <p:cNvSpPr txBox="1">
            <a:spLocks/>
          </p:cNvSpPr>
          <p:nvPr/>
        </p:nvSpPr>
        <p:spPr>
          <a:xfrm>
            <a:off x="736898" y="5224209"/>
            <a:ext cx="2553697" cy="9233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u="wavy" dirty="0">
                <a:solidFill>
                  <a:srgbClr val="080808"/>
                </a:solidFill>
                <a:uFill>
                  <a:solidFill>
                    <a:srgbClr val="FF0000"/>
                  </a:solidFill>
                </a:uFill>
                <a:latin typeface="JetBrains Mono" panose="02000009000000000000" pitchFamily="49" charset="0"/>
              </a:rPr>
              <a:t>( ) )</a:t>
            </a:r>
            <a:endParaRPr lang="en-US" sz="4800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BA2108-F6CA-6FEB-1C85-FB7A5F52700D}"/>
              </a:ext>
            </a:extLst>
          </p:cNvPr>
          <p:cNvSpPr txBox="1"/>
          <p:nvPr/>
        </p:nvSpPr>
        <p:spPr>
          <a:xfrm>
            <a:off x="4048740" y="5212285"/>
            <a:ext cx="1167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319EE4-7167-5756-3330-9F0FDFA9118D}"/>
              </a:ext>
            </a:extLst>
          </p:cNvPr>
          <p:cNvSpPr txBox="1"/>
          <p:nvPr/>
        </p:nvSpPr>
        <p:spPr>
          <a:xfrm>
            <a:off x="6003369" y="1171615"/>
            <a:ext cx="10019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E5DE6528-13BE-3F2C-09DB-B63096D639A2}"/>
              </a:ext>
            </a:extLst>
          </p:cNvPr>
          <p:cNvSpPr txBox="1">
            <a:spLocks/>
          </p:cNvSpPr>
          <p:nvPr/>
        </p:nvSpPr>
        <p:spPr>
          <a:xfrm>
            <a:off x="7406230" y="956716"/>
            <a:ext cx="5704314" cy="22245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8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S → L R    </a:t>
            </a:r>
            <a:r>
              <a:rPr lang="en-US" sz="24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</a:t>
            </a:r>
            <a:r>
              <a:rPr lang="en-US" sz="48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F → S R </a:t>
            </a:r>
          </a:p>
          <a:p>
            <a:pPr algn="l">
              <a:spcAft>
                <a:spcPts val="600"/>
              </a:spcAft>
            </a:pPr>
            <a:r>
              <a:rPr lang="en-US" sz="48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S → L F     S → S S</a:t>
            </a:r>
            <a:endParaRPr lang="en-US" sz="4800" u="sng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  <a:p>
            <a:pPr algn="l">
              <a:spcAft>
                <a:spcPts val="600"/>
              </a:spcAft>
            </a:pPr>
            <a:r>
              <a:rPr lang="en-US" sz="48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L → </a:t>
            </a:r>
            <a:r>
              <a:rPr lang="en-US" sz="4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sz="4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4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48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R → </a:t>
            </a:r>
            <a:r>
              <a:rPr lang="en-US" sz="4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US" sz="4400" u="sng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48627D-814F-E390-B6B0-C81A096038C4}"/>
              </a:ext>
            </a:extLst>
          </p:cNvPr>
          <p:cNvSpPr txBox="1"/>
          <p:nvPr/>
        </p:nvSpPr>
        <p:spPr>
          <a:xfrm rot="2404961">
            <a:off x="12654543" y="1945897"/>
            <a:ext cx="9782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CF7DF4-4DEF-97F6-13EC-C20214415AAC}"/>
              </a:ext>
            </a:extLst>
          </p:cNvPr>
          <p:cNvSpPr txBox="1"/>
          <p:nvPr/>
        </p:nvSpPr>
        <p:spPr>
          <a:xfrm rot="19374242">
            <a:off x="12628814" y="4403760"/>
            <a:ext cx="9782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481DD3-51D0-8E65-EE91-707CE4513F16}"/>
              </a:ext>
            </a:extLst>
          </p:cNvPr>
          <p:cNvSpPr txBox="1"/>
          <p:nvPr/>
        </p:nvSpPr>
        <p:spPr>
          <a:xfrm>
            <a:off x="19593229" y="2947705"/>
            <a:ext cx="1024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25C91748-470F-E1A7-E23C-6336FD6586A2}"/>
              </a:ext>
            </a:extLst>
          </p:cNvPr>
          <p:cNvSpPr txBox="1">
            <a:spLocks/>
          </p:cNvSpPr>
          <p:nvPr/>
        </p:nvSpPr>
        <p:spPr>
          <a:xfrm>
            <a:off x="24465346" y="1005615"/>
            <a:ext cx="4986208" cy="753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Regular expression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1119260-04C1-2162-30BE-04EE1F06CB9F}"/>
              </a:ext>
            </a:extLst>
          </p:cNvPr>
          <p:cNvSpPr txBox="1"/>
          <p:nvPr/>
        </p:nvSpPr>
        <p:spPr>
          <a:xfrm>
            <a:off x="37607544" y="3238064"/>
            <a:ext cx="1024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9E0D67B-1DF1-3214-FA79-AC1CA599B9E9}"/>
              </a:ext>
            </a:extLst>
          </p:cNvPr>
          <p:cNvSpPr txBox="1"/>
          <p:nvPr/>
        </p:nvSpPr>
        <p:spPr>
          <a:xfrm>
            <a:off x="22383312" y="3233983"/>
            <a:ext cx="1024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F886E484-3F62-DBE4-20D1-337BA88EE12D}"/>
              </a:ext>
            </a:extLst>
          </p:cNvPr>
          <p:cNvSpPr txBox="1">
            <a:spLocks/>
          </p:cNvSpPr>
          <p:nvPr/>
        </p:nvSpPr>
        <p:spPr>
          <a:xfrm>
            <a:off x="39308898" y="707465"/>
            <a:ext cx="4511161" cy="1046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LaTeR Reranking</a:t>
            </a:r>
          </a:p>
        </p:txBody>
      </p:sp>
      <p:pic>
        <p:nvPicPr>
          <p:cNvPr id="88" name="Picture 87" descr="A diagram of a mathematical function&#10;&#10;Description automatically generated">
            <a:extLst>
              <a:ext uri="{FF2B5EF4-FFF2-40B4-BE49-F238E27FC236}">
                <a16:creationId xmlns:a16="http://schemas.microsoft.com/office/drawing/2014/main" id="{8E973D3F-349F-47ED-89B0-F1076C361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124" y="4483511"/>
            <a:ext cx="5892074" cy="235456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21EAE10-6F36-951E-8E2A-F64A63DAFDE1}"/>
              </a:ext>
            </a:extLst>
          </p:cNvPr>
          <p:cNvSpPr txBox="1"/>
          <p:nvPr/>
        </p:nvSpPr>
        <p:spPr>
          <a:xfrm>
            <a:off x="30232485" y="3238064"/>
            <a:ext cx="1024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E0B7A8A2-23EE-39F6-32DB-8911EC7C070C}"/>
              </a:ext>
            </a:extLst>
          </p:cNvPr>
          <p:cNvSpPr txBox="1">
            <a:spLocks/>
          </p:cNvSpPr>
          <p:nvPr/>
        </p:nvSpPr>
        <p:spPr>
          <a:xfrm>
            <a:off x="31589250" y="853201"/>
            <a:ext cx="5610527" cy="902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WDFA Decoding</a:t>
            </a:r>
            <a:endParaRPr lang="en-US" sz="4400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pic>
        <p:nvPicPr>
          <p:cNvPr id="11" name="Picture 10" descr="A diagram of a test&#10;&#10;AI-generated content may be incorrect.">
            <a:extLst>
              <a:ext uri="{FF2B5EF4-FFF2-40B4-BE49-F238E27FC236}">
                <a16:creationId xmlns:a16="http://schemas.microsoft.com/office/drawing/2014/main" id="{C21EF915-C85E-E436-FB5A-26F22E4F2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9000" y="1828060"/>
            <a:ext cx="7332519" cy="368599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D3A23BA-E582-3669-AF69-0166A7AA1EFC}"/>
              </a:ext>
            </a:extLst>
          </p:cNvPr>
          <p:cNvSpPr txBox="1">
            <a:spLocks/>
          </p:cNvSpPr>
          <p:nvPr/>
        </p:nvSpPr>
        <p:spPr>
          <a:xfrm>
            <a:off x="14931522" y="1000426"/>
            <a:ext cx="6937631" cy="753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Completed Parse Matrix</a:t>
            </a:r>
            <a:endParaRPr lang="en-US" sz="4500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1BA966-49AC-D9C6-4ED4-66E1328D5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6281" y="1927021"/>
            <a:ext cx="5956933" cy="44088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81E587-E519-7230-872E-4CB5719A50A5}"/>
              </a:ext>
            </a:extLst>
          </p:cNvPr>
          <p:cNvSpPr txBox="1"/>
          <p:nvPr/>
        </p:nvSpPr>
        <p:spPr>
          <a:xfrm>
            <a:off x="44399162" y="3409369"/>
            <a:ext cx="6064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⟶</a:t>
            </a:r>
            <a:endParaRPr lang="en-US" sz="5400" b="1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1A871E0-4E9D-C165-355F-D72F27D082A7}"/>
              </a:ext>
            </a:extLst>
          </p:cNvPr>
          <p:cNvSpPr txBox="1">
            <a:spLocks/>
          </p:cNvSpPr>
          <p:nvPr/>
        </p:nvSpPr>
        <p:spPr>
          <a:xfrm>
            <a:off x="46671889" y="2123355"/>
            <a:ext cx="4198926" cy="35074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endParaRPr lang="en-US" sz="1400" u="sng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  <a:p>
            <a:pPr marL="914400" indent="-914400" algn="l">
              <a:spcAft>
                <a:spcPts val="1200"/>
              </a:spcAft>
              <a:buFont typeface="+mj-lt"/>
              <a:buAutoNum type="arabicPeriod"/>
            </a:pPr>
            <a:r>
              <a:rPr lang="en-US" sz="45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</a:t>
            </a:r>
            <a:r>
              <a:rPr lang="en-US" sz="45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)</a:t>
            </a:r>
          </a:p>
          <a:p>
            <a:pPr marL="914400" indent="-914400" algn="l">
              <a:spcAft>
                <a:spcPts val="1200"/>
              </a:spcAft>
              <a:buFont typeface="+mj-lt"/>
              <a:buAutoNum type="arabicPeriod"/>
            </a:pPr>
            <a:r>
              <a:rPr lang="en-US" sz="45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</a:t>
            </a:r>
            <a:r>
              <a:rPr lang="en-US" sz="45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) ( )</a:t>
            </a:r>
          </a:p>
          <a:p>
            <a:pPr algn="l">
              <a:spcAft>
                <a:spcPts val="1200"/>
              </a:spcAft>
            </a:pPr>
            <a:r>
              <a:rPr lang="en-US" sz="45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----------</a:t>
            </a:r>
          </a:p>
          <a:p>
            <a:pPr algn="l"/>
            <a:r>
              <a:rPr lang="en-US" sz="45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     </a:t>
            </a:r>
            <a:r>
              <a:rPr lang="en-US" sz="2800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(truncated @ k=2)</a:t>
            </a:r>
            <a:endParaRPr lang="en-US" sz="4500" dirty="0">
              <a:latin typeface="Linux Libertine" panose="02000503000000000000" pitchFamily="2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981450C-9D5C-3AE6-DFA9-4E0217C99D03}"/>
              </a:ext>
            </a:extLst>
          </p:cNvPr>
          <p:cNvSpPr txBox="1">
            <a:spLocks/>
          </p:cNvSpPr>
          <p:nvPr/>
        </p:nvSpPr>
        <p:spPr>
          <a:xfrm>
            <a:off x="46047422" y="1101588"/>
            <a:ext cx="4511161" cy="10469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en-US" sz="4500" u="sng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Reranked repairs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DF1769-5530-BB1A-6FD6-75D07B2B42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68300" y="1737485"/>
            <a:ext cx="5398723" cy="48192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E73EA2-28A5-1DC9-A26D-72071A093D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47404" y="1824925"/>
            <a:ext cx="5019636" cy="494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06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3681</TotalTime>
  <Words>81</Words>
  <Application>Microsoft Macintosh PowerPoint</Application>
  <PresentationFormat>Custom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JetBrains Mono</vt:lpstr>
      <vt:lpstr>Linux Libertine</vt:lpstr>
      <vt:lpstr>Office Theme</vt:lpstr>
      <vt:lpstr>Syntax                                            CNF grammar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Breandan Considine</dc:creator>
  <cp:lastModifiedBy>Breandan Considine</cp:lastModifiedBy>
  <cp:revision>31</cp:revision>
  <dcterms:created xsi:type="dcterms:W3CDTF">2024-07-10T18:32:28Z</dcterms:created>
  <dcterms:modified xsi:type="dcterms:W3CDTF">2026-06-29T03:31:34Z</dcterms:modified>
</cp:coreProperties>
</file>